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094406-287A-411F-B92D-D424AB4EE2A0}" v="3" dt="2026-09-09T06:43:58.9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9138" autoAdjust="0"/>
  </p:normalViewPr>
  <p:slideViewPr>
    <p:cSldViewPr snapToGrid="0">
      <p:cViewPr varScale="1">
        <p:scale>
          <a:sx n="72" d="100"/>
          <a:sy n="72" d="100"/>
        </p:scale>
        <p:origin x="45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shant M" userId="e04192e7e0b8a0e7" providerId="LiveId" clId="{AB09238B-437D-41E0-9A91-E360D855A5F7}"/>
    <pc:docChg chg="modSld">
      <pc:chgData name="Nishant M" userId="e04192e7e0b8a0e7" providerId="LiveId" clId="{AB09238B-437D-41E0-9A91-E360D855A5F7}" dt="2026-09-09T08:29:28.010" v="70" actId="20577"/>
      <pc:docMkLst>
        <pc:docMk/>
      </pc:docMkLst>
      <pc:sldChg chg="modSp mod">
        <pc:chgData name="Nishant M" userId="e04192e7e0b8a0e7" providerId="LiveId" clId="{AB09238B-437D-41E0-9A91-E360D855A5F7}" dt="2026-09-09T08:29:28.010" v="70" actId="20577"/>
        <pc:sldMkLst>
          <pc:docMk/>
          <pc:sldMk cId="0" sldId="256"/>
        </pc:sldMkLst>
        <pc:spChg chg="mod">
          <ac:chgData name="Nishant M" userId="e04192e7e0b8a0e7" providerId="LiveId" clId="{AB09238B-437D-41E0-9A91-E360D855A5F7}" dt="2026-09-09T08:29:28.010" v="70" actId="20577"/>
          <ac:spMkLst>
            <pc:docMk/>
            <pc:sldMk cId="0" sldId="256"/>
            <ac:spMk id="2" creationId="{00000000-0000-0000-0000-000000000000}"/>
          </ac:spMkLst>
        </pc:spChg>
        <pc:spChg chg="mod">
          <ac:chgData name="Nishant M" userId="e04192e7e0b8a0e7" providerId="LiveId" clId="{AB09238B-437D-41E0-9A91-E360D855A5F7}" dt="2026-09-09T08:05:49.044" v="69" actId="20577"/>
          <ac:spMkLst>
            <pc:docMk/>
            <pc:sldMk cId="0" sldId="256"/>
            <ac:spMk id="3" creationId="{00000000-0000-0000-0000-000000000000}"/>
          </ac:spMkLst>
        </pc:spChg>
      </pc:sldChg>
      <pc:sldChg chg="addSp modSp mod">
        <pc:chgData name="Nishant M" userId="e04192e7e0b8a0e7" providerId="LiveId" clId="{AB09238B-437D-41E0-9A91-E360D855A5F7}" dt="2026-09-09T07:05:42.213" v="51" actId="1076"/>
        <pc:sldMkLst>
          <pc:docMk/>
          <pc:sldMk cId="0" sldId="259"/>
        </pc:sldMkLst>
        <pc:spChg chg="mod">
          <ac:chgData name="Nishant M" userId="e04192e7e0b8a0e7" providerId="LiveId" clId="{AB09238B-437D-41E0-9A91-E360D855A5F7}" dt="2026-09-09T07:05:42.213" v="51" actId="1076"/>
          <ac:spMkLst>
            <pc:docMk/>
            <pc:sldMk cId="0" sldId="259"/>
            <ac:spMk id="5" creationId="{E8609FD0-B421-DD2D-EC97-12607C2BC591}"/>
          </ac:spMkLst>
        </pc:spChg>
        <pc:picChg chg="add mod">
          <ac:chgData name="Nishant M" userId="e04192e7e0b8a0e7" providerId="LiveId" clId="{AB09238B-437D-41E0-9A91-E360D855A5F7}" dt="2026-09-09T07:05:35.458" v="50" actId="1076"/>
          <ac:picMkLst>
            <pc:docMk/>
            <pc:sldMk cId="0" sldId="259"/>
            <ac:picMk id="6" creationId="{868AE437-0A10-2FBC-D857-9BBBAD4229C5}"/>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757431"/>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Data Structures and Algorithms -3 (25CS2103E)</a:t>
            </a:r>
            <a:br>
              <a:rPr lang="en-US" sz="4000" b="1" dirty="0">
                <a:solidFill>
                  <a:srgbClr val="C00000"/>
                </a:solidFill>
                <a:latin typeface="+mn-lt"/>
              </a:rPr>
            </a:br>
            <a:br>
              <a:rPr lang="en-US" sz="4000" b="1">
                <a:solidFill>
                  <a:srgbClr val="C00000"/>
                </a:solidFill>
                <a:latin typeface="+mn-lt"/>
              </a:rPr>
            </a:br>
            <a:endParaRPr lang="en-US" sz="4000" b="1" dirty="0">
              <a:solidFill>
                <a:srgbClr val="C00000"/>
              </a:solidFill>
              <a:latin typeface="+mn-lt"/>
            </a:endParaRPr>
          </a:p>
        </p:txBody>
      </p:sp>
      <p:sp>
        <p:nvSpPr>
          <p:cNvPr id="3" name="Subtitle 2"/>
          <p:cNvSpPr>
            <a:spLocks noGrp="1"/>
          </p:cNvSpPr>
          <p:nvPr>
            <p:ph type="subTitle" idx="1"/>
          </p:nvPr>
        </p:nvSpPr>
        <p:spPr>
          <a:xfrm>
            <a:off x="4270160" y="3513524"/>
            <a:ext cx="4551284" cy="1972876"/>
          </a:xfrm>
        </p:spPr>
        <p:txBody>
          <a:bodyPr/>
          <a:lstStyle/>
          <a:p>
            <a:r>
              <a:rPr lang="en-US" dirty="0">
                <a:solidFill>
                  <a:srgbClr val="0070C0"/>
                </a:solidFill>
              </a:rPr>
              <a:t>Team Members</a:t>
            </a:r>
          </a:p>
          <a:p>
            <a:pPr marL="171450">
              <a:lnSpc>
                <a:spcPct val="107000"/>
              </a:lnSpc>
              <a:spcAft>
                <a:spcPts val="800"/>
              </a:spcAft>
            </a:pPr>
            <a:r>
              <a:rPr lang="en-US" sz="1800" kern="0" dirty="0">
                <a:solidFill>
                  <a:srgbClr val="000000"/>
                </a:solidFill>
                <a:latin typeface="Times New Roman" panose="02020603050405020304" pitchFamily="18" charset="0"/>
                <a:ea typeface="Times New Roman" panose="02020603050405020304" pitchFamily="18" charset="0"/>
                <a:cs typeface="Gautami" panose="020B0502040204020203" pitchFamily="34" charset="0"/>
              </a:rPr>
              <a:t>Ashwanth Reddy : 2520030081</a:t>
            </a:r>
          </a:p>
          <a:p>
            <a:pPr marL="171450">
              <a:lnSpc>
                <a:spcPct val="107000"/>
              </a:lnSpc>
              <a:spcAft>
                <a:spcPts val="800"/>
              </a:spcAft>
            </a:pPr>
            <a:r>
              <a:rPr lang="en-US" sz="1800" kern="0" dirty="0" err="1">
                <a:solidFill>
                  <a:srgbClr val="000000"/>
                </a:solidFill>
                <a:latin typeface="Times New Roman" panose="02020603050405020304" pitchFamily="18" charset="0"/>
                <a:ea typeface="Times New Roman" panose="02020603050405020304" pitchFamily="18" charset="0"/>
                <a:cs typeface="Gautami" panose="020B0502040204020203" pitchFamily="34" charset="0"/>
              </a:rPr>
              <a:t>M.Ram</a:t>
            </a:r>
            <a:r>
              <a:rPr lang="en-US" sz="1800" kern="0" dirty="0">
                <a:solidFill>
                  <a:srgbClr val="000000"/>
                </a:solidFill>
                <a:latin typeface="Times New Roman" panose="02020603050405020304" pitchFamily="18" charset="0"/>
                <a:ea typeface="Times New Roman" panose="02020603050405020304" pitchFamily="18" charset="0"/>
                <a:cs typeface="Gautami" panose="020B0502040204020203" pitchFamily="34" charset="0"/>
              </a:rPr>
              <a:t> Ratan: 2520030291, M. Nishant : 2520030323</a:t>
            </a:r>
          </a:p>
          <a:p>
            <a:pPr marL="171450">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r>
              <a:rPr lang="en-US" sz="1800" kern="0" dirty="0">
                <a:solidFill>
                  <a:srgbClr val="000000"/>
                </a:solidFill>
                <a:latin typeface="Times New Roman" panose="02020603050405020304" pitchFamily="18" charset="0"/>
                <a:ea typeface="Times New Roman" panose="02020603050405020304" pitchFamily="18" charset="0"/>
                <a:cs typeface="Gautami" panose="020B0502040204020203" pitchFamily="34" charset="0"/>
              </a:rPr>
              <a:t> : Professor Yamini Devi</a:t>
            </a:r>
          </a:p>
          <a:p>
            <a:pPr marL="171450">
              <a:lnSpc>
                <a:spcPct val="107000"/>
              </a:lnSpc>
              <a:spcAft>
                <a:spcPts val="800"/>
              </a:spcAft>
            </a:pPr>
            <a:r>
              <a:rPr lang="en-US" sz="1800" kern="0" dirty="0">
                <a:solidFill>
                  <a:srgbClr val="000000"/>
                </a:solidFill>
                <a:effectLst/>
                <a:latin typeface="Times New Roman" panose="02020603050405020304" pitchFamily="18" charset="0"/>
                <a:ea typeface="Calibri" panose="020F0502020204030204" pitchFamily="34" charset="0"/>
                <a:cs typeface="Gautami" panose="020B0502040204020203" pitchFamily="34" charset="0"/>
              </a:rPr>
              <a:t>Batch no</a:t>
            </a:r>
            <a:r>
              <a:rPr lang="en-US" sz="1800" kern="0" dirty="0">
                <a:solidFill>
                  <a:srgbClr val="000000"/>
                </a:solidFill>
                <a:latin typeface="Times New Roman" panose="02020603050405020304" pitchFamily="18" charset="0"/>
                <a:ea typeface="Calibri" panose="020F0502020204030204" pitchFamily="34" charset="0"/>
                <a:cs typeface="Gautami" panose="020B0502040204020203" pitchFamily="34" charset="0"/>
              </a:rPr>
              <a:t> : 12</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6" name="TextBox 5">
            <a:extLst>
              <a:ext uri="{FF2B5EF4-FFF2-40B4-BE49-F238E27FC236}">
                <a16:creationId xmlns:a16="http://schemas.microsoft.com/office/drawing/2014/main" id="{96947D64-E89C-503F-E8FD-9D699FC6FA00}"/>
              </a:ext>
            </a:extLst>
          </p:cNvPr>
          <p:cNvSpPr txBox="1"/>
          <p:nvPr/>
        </p:nvSpPr>
        <p:spPr>
          <a:xfrm>
            <a:off x="1908312" y="1105234"/>
            <a:ext cx="10129962" cy="2862322"/>
          </a:xfrm>
          <a:prstGeom prst="rect">
            <a:avLst/>
          </a:prstGeom>
          <a:noFill/>
        </p:spPr>
        <p:txBody>
          <a:bodyPr wrap="square">
            <a:spAutoFit/>
          </a:bodyPr>
          <a:lstStyle/>
          <a:p>
            <a:r>
              <a:rPr lang="en-IN" dirty="0"/>
              <a:t>This project presents a sequence alignment tool that implements the Smith–Waterman algorithm to identify optimal local alignments between two biological sequences, such as DNA or protein strings. Unlike global alignment methods, the tool focuses on detecting highly similar </a:t>
            </a:r>
            <a:r>
              <a:rPr lang="en-IN" dirty="0" err="1"/>
              <a:t>subsequences</a:t>
            </a:r>
            <a:r>
              <a:rPr lang="en-IN" dirty="0"/>
              <a:t> embedded within larger sequences, making it well-suited for genomic similarity analysis. The system employs dynamic programming to construct a scoring matrix based on configurable parameters, including match, mismatch, and gap penalty values, and performs traceback to extract the highest-scoring local alignment. The application visualizes the aligned </a:t>
            </a:r>
            <a:r>
              <a:rPr lang="en-IN" dirty="0" err="1"/>
              <a:t>subsequences</a:t>
            </a:r>
            <a:r>
              <a:rPr lang="en-IN" dirty="0"/>
              <a:t> alongside their computed alignment score. By allowing users to adjust scoring parameters, the tool supports experimentation with different alignment sensitivities suited to varied biological contexts. This project demonstrates the practical application of dynamic programming in bioinformatics.</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5" name="TextBox 4">
            <a:extLst>
              <a:ext uri="{FF2B5EF4-FFF2-40B4-BE49-F238E27FC236}">
                <a16:creationId xmlns:a16="http://schemas.microsoft.com/office/drawing/2014/main" id="{CAF63906-6D3A-D121-8A13-2CFE81D2F8A5}"/>
              </a:ext>
            </a:extLst>
          </p:cNvPr>
          <p:cNvSpPr txBox="1"/>
          <p:nvPr/>
        </p:nvSpPr>
        <p:spPr>
          <a:xfrm>
            <a:off x="1510746" y="1224501"/>
            <a:ext cx="10257183" cy="3494536"/>
          </a:xfrm>
          <a:prstGeom prst="rect">
            <a:avLst/>
          </a:prstGeom>
          <a:noFill/>
        </p:spPr>
        <p:txBody>
          <a:bodyPr wrap="square">
            <a:spAutoFit/>
          </a:bodyPr>
          <a:lstStyle/>
          <a:p>
            <a:pPr marL="342900" lvl="0" indent="-342900">
              <a:buFont typeface="Arial" panose="020B0604020202020204" pitchFamily="34" charset="0"/>
              <a:buChar char="•"/>
            </a:pPr>
            <a:r>
              <a:rPr lang="en-IN" dirty="0"/>
              <a:t>Sequence alignment is a core technique in bioinformatics used to identify regions of similarity between DNA, RNA, or protein sequences.</a:t>
            </a:r>
          </a:p>
          <a:p>
            <a:pPr marL="342900" lvl="0" indent="-342900">
              <a:buFont typeface="Arial" panose="020B0604020202020204" pitchFamily="34" charset="0"/>
              <a:buChar char="•"/>
            </a:pPr>
            <a:r>
              <a:rPr lang="en-IN" dirty="0"/>
              <a:t>Two broad approaches exist: global alignment (aligns entire sequences end-to-end) and local alignment (finds the best matching subregions).</a:t>
            </a:r>
          </a:p>
          <a:p>
            <a:pPr marL="342900" lvl="0" indent="-342900">
              <a:buFont typeface="Arial" panose="020B0604020202020204" pitchFamily="34" charset="0"/>
              <a:buChar char="•"/>
            </a:pPr>
            <a:r>
              <a:rPr lang="en-IN" dirty="0"/>
              <a:t>The Smith–Waterman algorithm, introduced in 1981, is the classical dynamic programming method for optimal local sequence alignment.</a:t>
            </a:r>
          </a:p>
          <a:p>
            <a:pPr marL="342900" lvl="0" indent="-342900">
              <a:buFont typeface="Arial" panose="020B0604020202020204" pitchFamily="34" charset="0"/>
              <a:buChar char="•"/>
            </a:pPr>
            <a:r>
              <a:rPr lang="en-IN" dirty="0"/>
              <a:t>Local alignment is especially useful when sequences share only partial similarity — e.g., conserved domains, motifs, or gene fragments — rather than being similar throughout.</a:t>
            </a:r>
          </a:p>
          <a:p>
            <a:pPr marL="342900" lvl="0" indent="-342900">
              <a:buFont typeface="Arial" panose="020B0604020202020204" pitchFamily="34" charset="0"/>
              <a:buChar char="•"/>
            </a:pPr>
            <a:r>
              <a:rPr lang="en-IN" dirty="0"/>
              <a:t>Applications include gene identification, mutation detection, evolutionary studies, and protein structure/function prediction.</a:t>
            </a:r>
          </a:p>
          <a:p>
            <a:pPr marL="342900" lvl="0" indent="-342900">
              <a:buFont typeface="Arial" panose="020B0604020202020204" pitchFamily="34" charset="0"/>
              <a:buChar char="•"/>
            </a:pPr>
            <a:r>
              <a:rPr lang="en-IN" dirty="0"/>
              <a:t>This project implements Smith–Waterman as an interactive tool with configurable scoring and visual output of the aligned regions.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5" name="TextBox 4">
            <a:extLst>
              <a:ext uri="{FF2B5EF4-FFF2-40B4-BE49-F238E27FC236}">
                <a16:creationId xmlns:a16="http://schemas.microsoft.com/office/drawing/2014/main" id="{8E80E7FB-C8DA-9A9D-D583-91704BFC0CB5}"/>
              </a:ext>
            </a:extLst>
          </p:cNvPr>
          <p:cNvSpPr txBox="1"/>
          <p:nvPr/>
        </p:nvSpPr>
        <p:spPr>
          <a:xfrm>
            <a:off x="1359672" y="1463040"/>
            <a:ext cx="10336696" cy="2862322"/>
          </a:xfrm>
          <a:prstGeom prst="rect">
            <a:avLst/>
          </a:prstGeom>
          <a:noFill/>
        </p:spPr>
        <p:txBody>
          <a:bodyPr wrap="square">
            <a:spAutoFit/>
          </a:bodyPr>
          <a:lstStyle/>
          <a:p>
            <a:pPr marL="342900" lvl="0" indent="-342900">
              <a:buFont typeface="Arial" panose="020B0604020202020204" pitchFamily="34" charset="0"/>
              <a:buChar char="•"/>
            </a:pPr>
            <a:r>
              <a:rPr lang="en-IN" dirty="0"/>
              <a:t>Needleman–Wunsch (1970): introduced dynamic programming for global sequence alignment; not suited for partial similarity detection.</a:t>
            </a:r>
          </a:p>
          <a:p>
            <a:pPr marL="342900" lvl="0" indent="-342900">
              <a:buFont typeface="Arial" panose="020B0604020202020204" pitchFamily="34" charset="0"/>
              <a:buChar char="•"/>
            </a:pPr>
            <a:r>
              <a:rPr lang="en-IN" dirty="0"/>
              <a:t>Smith–Waterman (1981): extended the DP approach for local alignment by allowing scores to reset to zero, isolating the best-matching subsequence.</a:t>
            </a:r>
          </a:p>
          <a:p>
            <a:pPr marL="342900" lvl="0" indent="-342900">
              <a:buFont typeface="Arial" panose="020B0604020202020204" pitchFamily="34" charset="0"/>
              <a:buChar char="•"/>
            </a:pPr>
            <a:r>
              <a:rPr lang="en-IN" dirty="0"/>
              <a:t>BLAST (Altschul et al., 1990): a heuristic-based tool built for speed on large databases, trading exact optimality for performance.</a:t>
            </a:r>
          </a:p>
          <a:p>
            <a:pPr marL="342900" lvl="0" indent="-342900">
              <a:buFont typeface="Arial" panose="020B0604020202020204" pitchFamily="34" charset="0"/>
              <a:buChar char="•"/>
            </a:pPr>
            <a:r>
              <a:rPr lang="en-IN" dirty="0"/>
              <a:t>FASTA: another heuristic local alignment tool, faster but approximate compared to Smith–Waterman.</a:t>
            </a:r>
          </a:p>
          <a:p>
            <a:pPr marL="342900" lvl="0" indent="-342900">
              <a:buFont typeface="Arial" panose="020B0604020202020204" pitchFamily="34" charset="0"/>
              <a:buChar char="•"/>
            </a:pPr>
            <a:r>
              <a:rPr lang="en-IN" dirty="0"/>
              <a:t>Existing literature establishes Smith–Waterman as the gold-standard exact method for local alignment, though computationally more expensive (O(</a:t>
            </a:r>
            <a:r>
              <a:rPr lang="en-IN" dirty="0" err="1"/>
              <a:t>mn</a:t>
            </a:r>
            <a:r>
              <a:rPr lang="en-IN" dirty="0"/>
              <a:t>) time/space) than heuristic alternatives — making it ideal for smaller sequences or accuracy-critical use cases, which this project targets.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5" name="TextBox 4">
            <a:extLst>
              <a:ext uri="{FF2B5EF4-FFF2-40B4-BE49-F238E27FC236}">
                <a16:creationId xmlns:a16="http://schemas.microsoft.com/office/drawing/2014/main" id="{4E8FEC92-6AB9-8553-F000-980E460F8EBF}"/>
              </a:ext>
            </a:extLst>
          </p:cNvPr>
          <p:cNvSpPr txBox="1"/>
          <p:nvPr/>
        </p:nvSpPr>
        <p:spPr>
          <a:xfrm>
            <a:off x="3444902" y="1319917"/>
            <a:ext cx="6955403" cy="4524315"/>
          </a:xfrm>
          <a:prstGeom prst="rect">
            <a:avLst/>
          </a:prstGeom>
          <a:noFill/>
        </p:spPr>
        <p:txBody>
          <a:bodyPr wrap="square">
            <a:spAutoFit/>
          </a:bodyPr>
          <a:lstStyle/>
          <a:p>
            <a:pPr rtl="0">
              <a:buNone/>
            </a:pPr>
            <a:r>
              <a:rPr lang="en-IN" b="1" dirty="0"/>
              <a:t>Problem Statement:</a:t>
            </a:r>
            <a:br>
              <a:rPr lang="en-IN" dirty="0"/>
            </a:br>
            <a:r>
              <a:rPr lang="en-IN" dirty="0"/>
              <a:t>Given two biological sequences, there is a need for a tool that can accurately identify the most similar local </a:t>
            </a:r>
            <a:r>
              <a:rPr lang="en-IN" dirty="0" err="1"/>
              <a:t>subsequences</a:t>
            </a:r>
            <a:r>
              <a:rPr lang="en-IN" dirty="0"/>
              <a:t> between them, rather than forcing a full end-to-end comparison, while allowing flexibility in scoring criteria and providing a clear visual representation of the result.</a:t>
            </a:r>
          </a:p>
          <a:p>
            <a:pPr rtl="0">
              <a:buNone/>
            </a:pPr>
            <a:r>
              <a:rPr lang="en-IN" b="1" dirty="0"/>
              <a:t>Objectives:</a:t>
            </a:r>
            <a:endParaRPr lang="en-IN" dirty="0"/>
          </a:p>
          <a:p>
            <a:pPr marL="342900" lvl="0" indent="-342900" rtl="0">
              <a:buFont typeface="Arial" panose="020B0604020202020204" pitchFamily="34" charset="0"/>
              <a:buChar char="•"/>
            </a:pPr>
            <a:r>
              <a:rPr lang="en-IN" dirty="0"/>
              <a:t>Implement the Smith–Waterman dynamic programming algorithm for optimal local alignment.</a:t>
            </a:r>
          </a:p>
          <a:p>
            <a:pPr marL="342900" lvl="0" indent="-342900" rtl="0">
              <a:buFont typeface="Arial" panose="020B0604020202020204" pitchFamily="34" charset="0"/>
              <a:buChar char="•"/>
            </a:pPr>
            <a:r>
              <a:rPr lang="en-IN" dirty="0"/>
              <a:t>Allow configurable scoring parameters (match score, mismatch penalty, gap penalty).</a:t>
            </a:r>
          </a:p>
          <a:p>
            <a:pPr marL="342900" lvl="0" indent="-342900" rtl="0">
              <a:buFont typeface="Arial" panose="020B0604020202020204" pitchFamily="34" charset="0"/>
              <a:buChar char="•"/>
            </a:pPr>
            <a:r>
              <a:rPr lang="en-IN" dirty="0"/>
              <a:t>Perform traceback to reconstruct and display the optimal local alignment.</a:t>
            </a:r>
          </a:p>
          <a:p>
            <a:pPr marL="342900" lvl="0" indent="-342900" rtl="0">
              <a:buFont typeface="Arial" panose="020B0604020202020204" pitchFamily="34" charset="0"/>
              <a:buChar char="•"/>
            </a:pPr>
            <a:r>
              <a:rPr lang="en-IN" dirty="0"/>
              <a:t>Visualize the aligned </a:t>
            </a:r>
            <a:r>
              <a:rPr lang="en-IN" dirty="0" err="1"/>
              <a:t>subsequences</a:t>
            </a:r>
            <a:r>
              <a:rPr lang="en-IN" dirty="0"/>
              <a:t> and the alignment score.</a:t>
            </a:r>
          </a:p>
          <a:p>
            <a:pPr marL="342900" lvl="0" indent="-342900" rtl="0">
              <a:buFont typeface="Arial" panose="020B0604020202020204" pitchFamily="34" charset="0"/>
              <a:buChar char="•"/>
            </a:pPr>
            <a:r>
              <a:rPr lang="en-IN" dirty="0"/>
              <a:t>Validate the tool on sample DNA/protein sequences to demonstrate correctness.</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sp>
        <p:nvSpPr>
          <p:cNvPr id="5" name="TextBox 4">
            <a:extLst>
              <a:ext uri="{FF2B5EF4-FFF2-40B4-BE49-F238E27FC236}">
                <a16:creationId xmlns:a16="http://schemas.microsoft.com/office/drawing/2014/main" id="{E8609FD0-B421-DD2D-EC97-12607C2BC591}"/>
              </a:ext>
            </a:extLst>
          </p:cNvPr>
          <p:cNvSpPr txBox="1"/>
          <p:nvPr/>
        </p:nvSpPr>
        <p:spPr>
          <a:xfrm>
            <a:off x="4259332" y="1380815"/>
            <a:ext cx="6859987" cy="2862322"/>
          </a:xfrm>
          <a:prstGeom prst="rect">
            <a:avLst/>
          </a:prstGeom>
          <a:noFill/>
        </p:spPr>
        <p:txBody>
          <a:bodyPr wrap="square">
            <a:spAutoFit/>
          </a:bodyPr>
          <a:lstStyle/>
          <a:p>
            <a:pPr marL="342900" lvl="0" indent="-342900">
              <a:buFont typeface="Arial" panose="020B0604020202020204" pitchFamily="34" charset="0"/>
              <a:buChar char="•"/>
            </a:pPr>
            <a:r>
              <a:rPr lang="en-IN" dirty="0"/>
              <a:t>Input two sequences (Sequence A, Sequence B) and scoring parameters.</a:t>
            </a:r>
          </a:p>
          <a:p>
            <a:pPr marL="342900" lvl="0" indent="-342900">
              <a:buFont typeface="Arial" panose="020B0604020202020204" pitchFamily="34" charset="0"/>
              <a:buChar char="•"/>
            </a:pPr>
            <a:r>
              <a:rPr lang="en-IN" dirty="0"/>
              <a:t>Initialize scoring matrix H with zeros in the first row and column.</a:t>
            </a:r>
          </a:p>
          <a:p>
            <a:pPr marL="342900" lvl="0" indent="-342900">
              <a:buFont typeface="Arial" panose="020B0604020202020204" pitchFamily="34" charset="0"/>
              <a:buChar char="•"/>
            </a:pPr>
            <a:r>
              <a:rPr lang="en-IN" dirty="0"/>
              <a:t>Fill matrix: for each cell, compute score using match/mismatch/gap rules; if score &lt; 0, set to 0.</a:t>
            </a:r>
          </a:p>
          <a:p>
            <a:pPr marL="342900" lvl="0" indent="-342900">
              <a:buFont typeface="Arial" panose="020B0604020202020204" pitchFamily="34" charset="0"/>
              <a:buChar char="•"/>
            </a:pPr>
            <a:r>
              <a:rPr lang="en-IN" dirty="0"/>
              <a:t>Track the cell with the maximum score in the matrix.</a:t>
            </a:r>
          </a:p>
          <a:p>
            <a:pPr marL="342900" lvl="0" indent="-342900">
              <a:buFont typeface="Arial" panose="020B0604020202020204" pitchFamily="34" charset="0"/>
              <a:buChar char="•"/>
            </a:pPr>
            <a:r>
              <a:rPr lang="en-IN" dirty="0"/>
              <a:t>Traceback from the max-score cell until a 0 is reached, reconstructing the aligned subsequence.</a:t>
            </a:r>
          </a:p>
          <a:p>
            <a:pPr marL="342900" lvl="0" indent="-342900">
              <a:buFont typeface="Arial" panose="020B0604020202020204" pitchFamily="34" charset="0"/>
              <a:buChar char="•"/>
            </a:pPr>
            <a:r>
              <a:rPr lang="en-IN" dirty="0"/>
              <a:t>Output the optimal local alignment and its score.</a:t>
            </a:r>
          </a:p>
          <a:p>
            <a:pPr marL="342900" lvl="0" indent="-342900">
              <a:buFont typeface="Arial" panose="020B0604020202020204" pitchFamily="34" charset="0"/>
              <a:buChar char="•"/>
            </a:pPr>
            <a:r>
              <a:rPr lang="en-IN" dirty="0"/>
              <a:t>Visualize the aligned </a:t>
            </a:r>
            <a:r>
              <a:rPr lang="en-IN" dirty="0" err="1"/>
              <a:t>subsequences</a:t>
            </a:r>
            <a:r>
              <a:rPr lang="en-IN" dirty="0"/>
              <a:t>.</a:t>
            </a:r>
          </a:p>
        </p:txBody>
      </p:sp>
      <p:pic>
        <p:nvPicPr>
          <p:cNvPr id="6" name="Picture 5">
            <a:extLst>
              <a:ext uri="{FF2B5EF4-FFF2-40B4-BE49-F238E27FC236}">
                <a16:creationId xmlns:a16="http://schemas.microsoft.com/office/drawing/2014/main" id="{868AE437-0A10-2FBC-D857-9BBBAD4229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9802" y="896645"/>
            <a:ext cx="2056411" cy="525558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5" name="TextBox 4">
            <a:extLst>
              <a:ext uri="{FF2B5EF4-FFF2-40B4-BE49-F238E27FC236}">
                <a16:creationId xmlns:a16="http://schemas.microsoft.com/office/drawing/2014/main" id="{35B53B76-1FB6-861F-E912-CDEA1F44240A}"/>
              </a:ext>
            </a:extLst>
          </p:cNvPr>
          <p:cNvSpPr txBox="1"/>
          <p:nvPr/>
        </p:nvSpPr>
        <p:spPr>
          <a:xfrm>
            <a:off x="3079143" y="1232526"/>
            <a:ext cx="7559701" cy="2862322"/>
          </a:xfrm>
          <a:prstGeom prst="rect">
            <a:avLst/>
          </a:prstGeom>
          <a:noFill/>
        </p:spPr>
        <p:txBody>
          <a:bodyPr wrap="square">
            <a:spAutoFit/>
          </a:bodyPr>
          <a:lstStyle/>
          <a:p>
            <a:pPr marL="342900" lvl="0" indent="-342900">
              <a:buFont typeface="Arial" panose="020B0604020202020204" pitchFamily="34" charset="0"/>
              <a:buChar char="•"/>
            </a:pPr>
            <a:r>
              <a:rPr lang="en-IN" dirty="0"/>
              <a:t>The tool successfully computes optimal local alignments for sample sequence pairs.</a:t>
            </a:r>
          </a:p>
          <a:p>
            <a:pPr marL="342900" lvl="0" indent="-342900">
              <a:buFont typeface="Arial" panose="020B0604020202020204" pitchFamily="34" charset="0"/>
              <a:buChar char="•"/>
            </a:pPr>
            <a:r>
              <a:rPr lang="en-IN" dirty="0"/>
              <a:t>Example: given two DNA sequences with a shared conserved region, the tool correctly isolates the matching subsequence and reports its alignment score.</a:t>
            </a:r>
          </a:p>
          <a:p>
            <a:pPr marL="342900" lvl="0" indent="-342900">
              <a:buFont typeface="Arial" panose="020B0604020202020204" pitchFamily="34" charset="0"/>
              <a:buChar char="•"/>
            </a:pPr>
            <a:r>
              <a:rPr lang="en-IN" dirty="0"/>
              <a:t>Varying scoring parameters (match/mismatch/gap) demonstrably changes the length and boundaries of the aligned region, confirming correct algorithm </a:t>
            </a:r>
            <a:r>
              <a:rPr lang="en-IN" dirty="0" err="1"/>
              <a:t>behavior</a:t>
            </a:r>
            <a:r>
              <a:rPr lang="en-IN" dirty="0"/>
              <a:t>.</a:t>
            </a:r>
          </a:p>
          <a:p>
            <a:pPr marL="342900" lvl="0" indent="-342900">
              <a:buFont typeface="Arial" panose="020B0604020202020204" pitchFamily="34" charset="0"/>
              <a:buChar char="•"/>
            </a:pPr>
            <a:r>
              <a:rPr lang="en-IN" dirty="0"/>
              <a:t>The visualization clearly highlights the aligned subsequence within the larger input sequences.</a:t>
            </a:r>
          </a:p>
        </p:txBody>
      </p:sp>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5" name="TextBox 4">
            <a:extLst>
              <a:ext uri="{FF2B5EF4-FFF2-40B4-BE49-F238E27FC236}">
                <a16:creationId xmlns:a16="http://schemas.microsoft.com/office/drawing/2014/main" id="{EB402FDE-303B-8542-9F6F-CD75F9680C9C}"/>
              </a:ext>
            </a:extLst>
          </p:cNvPr>
          <p:cNvSpPr txBox="1"/>
          <p:nvPr/>
        </p:nvSpPr>
        <p:spPr>
          <a:xfrm>
            <a:off x="3651636" y="1650618"/>
            <a:ext cx="6653253" cy="3139321"/>
          </a:xfrm>
          <a:prstGeom prst="rect">
            <a:avLst/>
          </a:prstGeom>
          <a:noFill/>
        </p:spPr>
        <p:txBody>
          <a:bodyPr wrap="square">
            <a:spAutoFit/>
          </a:bodyPr>
          <a:lstStyle/>
          <a:p>
            <a:pPr rtl="0">
              <a:buNone/>
            </a:pPr>
            <a:r>
              <a:rPr lang="en-IN" b="1" dirty="0"/>
              <a:t>Hardware:</a:t>
            </a:r>
            <a:endParaRPr lang="en-IN" dirty="0"/>
          </a:p>
          <a:p>
            <a:pPr marL="342900" lvl="0" indent="-342900" rtl="0">
              <a:buFont typeface="Arial" panose="020B0604020202020204" pitchFamily="34" charset="0"/>
              <a:buChar char="•"/>
            </a:pPr>
            <a:r>
              <a:rPr lang="en-IN" dirty="0"/>
              <a:t>Processor: Intel i3 or above</a:t>
            </a:r>
          </a:p>
          <a:p>
            <a:pPr marL="342900" lvl="0" indent="-342900" rtl="0">
              <a:buFont typeface="Arial" panose="020B0604020202020204" pitchFamily="34" charset="0"/>
              <a:buChar char="•"/>
            </a:pPr>
            <a:r>
              <a:rPr lang="en-IN" dirty="0"/>
              <a:t>RAM: 4 GB minimum (8 GB recommended)</a:t>
            </a:r>
          </a:p>
          <a:p>
            <a:pPr marL="342900" lvl="0" indent="-342900" rtl="0">
              <a:buFont typeface="Arial" panose="020B0604020202020204" pitchFamily="34" charset="0"/>
              <a:buChar char="•"/>
            </a:pPr>
            <a:r>
              <a:rPr lang="en-IN" dirty="0"/>
              <a:t>Storage: 500 MB free space</a:t>
            </a:r>
          </a:p>
          <a:p>
            <a:pPr rtl="0">
              <a:buNone/>
            </a:pPr>
            <a:r>
              <a:rPr lang="en-IN" b="1" dirty="0"/>
              <a:t>Software:</a:t>
            </a:r>
            <a:endParaRPr lang="en-IN" dirty="0"/>
          </a:p>
          <a:p>
            <a:pPr marL="342900" lvl="0" indent="-342900" rtl="0">
              <a:buFont typeface="Arial" panose="020B0604020202020204" pitchFamily="34" charset="0"/>
              <a:buChar char="•"/>
            </a:pPr>
            <a:r>
              <a:rPr lang="en-IN" dirty="0"/>
              <a:t>Operating System: Windows/Linux/macOS</a:t>
            </a:r>
          </a:p>
          <a:p>
            <a:pPr marL="342900" lvl="0" indent="-342900" rtl="0">
              <a:buFont typeface="Arial" panose="020B0604020202020204" pitchFamily="34" charset="0"/>
              <a:buChar char="•"/>
            </a:pPr>
            <a:r>
              <a:rPr lang="en-IN" dirty="0"/>
              <a:t>Programming Language: Python / Java / C++ (whichever you implemented in)</a:t>
            </a:r>
          </a:p>
          <a:p>
            <a:pPr marL="342900" lvl="0" indent="-342900" rtl="0">
              <a:buFont typeface="Arial" panose="020B0604020202020204" pitchFamily="34" charset="0"/>
              <a:buChar char="•"/>
            </a:pPr>
            <a:r>
              <a:rPr lang="en-IN" dirty="0"/>
              <a:t>Libraries: NumPy (matrix operations), Matplotlib/</a:t>
            </a:r>
            <a:r>
              <a:rPr lang="en-IN" dirty="0" err="1"/>
              <a:t>Tkinter</a:t>
            </a:r>
            <a:r>
              <a:rPr lang="en-IN" dirty="0"/>
              <a:t> (visualization) — adjust to your actual stack</a:t>
            </a:r>
          </a:p>
          <a:p>
            <a:pPr marL="342900" lvl="0" indent="-342900" rtl="0">
              <a:buFont typeface="Arial" panose="020B0604020202020204" pitchFamily="34" charset="0"/>
              <a:buChar char="•"/>
            </a:pPr>
            <a:r>
              <a:rPr lang="en-IN" dirty="0"/>
              <a:t>IDE: VS Code / PyCharm / Eclipse</a:t>
            </a:r>
          </a:p>
        </p:txBody>
      </p:sp>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5" name="TextBox 4">
            <a:extLst>
              <a:ext uri="{FF2B5EF4-FFF2-40B4-BE49-F238E27FC236}">
                <a16:creationId xmlns:a16="http://schemas.microsoft.com/office/drawing/2014/main" id="{46270298-F806-3841-5B36-FB5F622AF246}"/>
              </a:ext>
            </a:extLst>
          </p:cNvPr>
          <p:cNvSpPr txBox="1"/>
          <p:nvPr/>
        </p:nvSpPr>
        <p:spPr>
          <a:xfrm>
            <a:off x="2943970" y="1463114"/>
            <a:ext cx="7734631" cy="2308324"/>
          </a:xfrm>
          <a:prstGeom prst="rect">
            <a:avLst/>
          </a:prstGeom>
          <a:noFill/>
        </p:spPr>
        <p:txBody>
          <a:bodyPr wrap="square">
            <a:spAutoFit/>
          </a:bodyPr>
          <a:lstStyle/>
          <a:p>
            <a:r>
              <a:rPr lang="en-IN" dirty="0"/>
              <a:t>This project successfully implements the Smith–Waterman algorithm to perform optimal local sequence alignment between two biological sequences. The tool demonstrates how dynamic programming can be applied to identify meaningful regions of similarity even when sequences differ substantially elsewhere. With configurable scoring parameters and visual output, the application provides an accessible way to explore local similarity analysis, reinforcing the relevance of classical algorithmic techniques in modern genomics and bioinformatics research.</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5" name="TextBox 4">
            <a:extLst>
              <a:ext uri="{FF2B5EF4-FFF2-40B4-BE49-F238E27FC236}">
                <a16:creationId xmlns:a16="http://schemas.microsoft.com/office/drawing/2014/main" id="{69638D51-FACB-A760-8DB9-AAC9DB6C5F2D}"/>
              </a:ext>
            </a:extLst>
          </p:cNvPr>
          <p:cNvSpPr txBox="1"/>
          <p:nvPr/>
        </p:nvSpPr>
        <p:spPr>
          <a:xfrm>
            <a:off x="3047337" y="1526650"/>
            <a:ext cx="7424531" cy="2585323"/>
          </a:xfrm>
          <a:prstGeom prst="rect">
            <a:avLst/>
          </a:prstGeom>
          <a:noFill/>
        </p:spPr>
        <p:txBody>
          <a:bodyPr wrap="square">
            <a:spAutoFit/>
          </a:bodyPr>
          <a:lstStyle/>
          <a:p>
            <a:pPr marL="342900" lvl="0" indent="-342900">
              <a:buFont typeface="Arial" panose="020B0604020202020204" pitchFamily="34" charset="0"/>
              <a:buChar char="•"/>
            </a:pPr>
            <a:r>
              <a:rPr lang="en-IN" dirty="0"/>
              <a:t>Extend the tool to support multiple sequence alignment (MSA) rather than pairwise alignment only.</a:t>
            </a:r>
          </a:p>
          <a:p>
            <a:pPr marL="342900" lvl="0" indent="-342900">
              <a:buFont typeface="Arial" panose="020B0604020202020204" pitchFamily="34" charset="0"/>
              <a:buChar char="•"/>
            </a:pPr>
            <a:r>
              <a:rPr lang="en-IN" dirty="0"/>
              <a:t>Optimize the algorithm using space-efficient variants (e.g., Hirschberg's algorithm) for handling longer sequences.</a:t>
            </a:r>
          </a:p>
          <a:p>
            <a:pPr marL="342900" lvl="0" indent="-342900">
              <a:buFont typeface="Arial" panose="020B0604020202020204" pitchFamily="34" charset="0"/>
              <a:buChar char="•"/>
            </a:pPr>
            <a:r>
              <a:rPr lang="en-IN" dirty="0"/>
              <a:t>Integrate real biological databases (e.g., NCBI, </a:t>
            </a:r>
            <a:r>
              <a:rPr lang="en-IN" dirty="0" err="1"/>
              <a:t>UniProt</a:t>
            </a:r>
            <a:r>
              <a:rPr lang="en-IN" dirty="0"/>
              <a:t>) for direct sequence retrieval.</a:t>
            </a:r>
          </a:p>
          <a:p>
            <a:pPr marL="342900" lvl="0" indent="-342900">
              <a:buFont typeface="Arial" panose="020B0604020202020204" pitchFamily="34" charset="0"/>
              <a:buChar char="•"/>
            </a:pPr>
            <a:r>
              <a:rPr lang="en-IN" dirty="0"/>
              <a:t>Add support for affine gap penalties for more biologically realistic scoring.</a:t>
            </a:r>
          </a:p>
          <a:p>
            <a:pPr marL="342900" lvl="0" indent="-342900">
              <a:buFont typeface="Arial" panose="020B0604020202020204" pitchFamily="34" charset="0"/>
              <a:buChar char="•"/>
            </a:pPr>
            <a:r>
              <a:rPr lang="en-IN" dirty="0"/>
              <a:t>Explore parallelization/GPU acceleration to improve performance on large-scale genomic data.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TotalTime>
  <Words>1014</Words>
  <Application>Microsoft Office PowerPoint</Application>
  <PresentationFormat>Widescreen</PresentationFormat>
  <Paragraphs>70</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       Data Structures and Algorithms -3 (25CS2103E)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Nishant M</cp:lastModifiedBy>
  <cp:revision>20</cp:revision>
  <dcterms:created xsi:type="dcterms:W3CDTF">2024-08-29T05:25:00Z</dcterms:created>
  <dcterms:modified xsi:type="dcterms:W3CDTF">2026-09-09T08:29:30Z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